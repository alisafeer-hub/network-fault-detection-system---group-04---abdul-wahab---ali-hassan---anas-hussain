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6AAD665-4AFD-41D9-9458-077EBE02A735}">
  <a:tblStyle styleId="{96AAD665-4AFD-41D9-9458-077EBE02A73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54D5C369-4458-4E46-A4B9-66C5724EB205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dk1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dk1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d0710ae9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6d0710ae98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d0710ae9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6d0710ae98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d0710ae9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6d0710ae98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d0710ae9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6d0710ae98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 flipH="1">
            <a:off x="0" y="0"/>
            <a:ext cx="4351564" cy="6858000"/>
          </a:xfrm>
          <a:custGeom>
            <a:rect b="b" l="l" r="r" t="t"/>
            <a:pathLst>
              <a:path extrusionOk="0" h="6858000" w="5734864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8827" y="235010"/>
            <a:ext cx="3734536" cy="2795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Title:</a:t>
            </a:r>
            <a:br>
              <a:rPr b="0" i="0" lang="en-US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Network Fault Detection System (Project Presentation)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32583" y="5956245"/>
            <a:ext cx="3233898" cy="1136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Supervisor: Prof. Anwer Ali </a:t>
            </a:r>
            <a:endParaRPr/>
          </a:p>
        </p:txBody>
      </p:sp>
      <p:pic>
        <p:nvPicPr>
          <p:cNvPr descr="Benazir Bhutto Shaheed University Lyari ..."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1813" y="999335"/>
            <a:ext cx="4281487" cy="482935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p13"/>
          <p:cNvGraphicFramePr/>
          <p:nvPr/>
        </p:nvGraphicFramePr>
        <p:xfrm>
          <a:off x="295701" y="36479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{96AAD665-4AFD-41D9-9458-077EBE02A735}</a:tableStyleId>
              </a:tblPr>
              <a:tblGrid>
                <a:gridCol w="1799950"/>
                <a:gridCol w="1707700"/>
              </a:tblGrid>
              <a:tr h="27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Submitted By: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Roll Number: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Ali Hassan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B2331012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Abdul Wahab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B2331006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Anas Hussain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B20331018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429369" y="238539"/>
            <a:ext cx="8263890" cy="14344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Objective &amp; Overview: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429369" y="1681544"/>
            <a:ext cx="8229600" cy="18288"/>
          </a:xfrm>
          <a:custGeom>
            <a:rect b="b" l="l" r="r" t="t"/>
            <a:pathLst>
              <a:path extrusionOk="0" fill="none" h="18288" w="822960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extrusionOk="0" h="18288" w="822960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4901"/>
            </a:schemeClr>
          </a:solidFill>
          <a:ln cap="rnd" cmpd="sng" w="44450">
            <a:solidFill>
              <a:schemeClr val="accent2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29368" y="2071316"/>
            <a:ext cx="6266399" cy="46441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Objective:</a:t>
            </a:r>
            <a:b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develop a </a:t>
            </a: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system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identifies faulty vehicle sensor readings using anomaly detection algorithms while preserving extreme outliers.</a:t>
            </a:r>
            <a:endParaRPr/>
          </a:p>
          <a:p>
            <a:pPr indent="889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Sensors: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Accelerometer: Accel_X, Accel_Y, Accel_Z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GPS Speed: GPS_Speed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Engine: Engine_RPM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889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Goals: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 anomalies in sensor data</a:t>
            </a:r>
            <a:endParaRPr/>
          </a:p>
          <a:p>
            <a:pPr indent="-2286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Flag faulty sensor(s) precisely</a:t>
            </a:r>
            <a:endParaRPr/>
          </a:p>
          <a:p>
            <a:pPr indent="-2286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Retain outliers for diagnostic integrity</a:t>
            </a:r>
            <a:endParaRPr/>
          </a:p>
        </p:txBody>
      </p:sp>
      <p:pic>
        <p:nvPicPr>
          <p:cNvPr id="98" name="Google Shape;98;p14"/>
          <p:cNvPicPr preferRelativeResize="0"/>
          <p:nvPr/>
        </p:nvPicPr>
        <p:blipFill rotWithShape="1">
          <a:blip r:embed="rId3">
            <a:alphaModFix/>
          </a:blip>
          <a:srcRect b="1" l="4927" r="35186" t="0"/>
          <a:stretch/>
        </p:blipFill>
        <p:spPr>
          <a:xfrm>
            <a:off x="6489290" y="2442297"/>
            <a:ext cx="2341238" cy="306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/>
        </p:nvSpPr>
        <p:spPr>
          <a:xfrm>
            <a:off x="570271" y="523805"/>
            <a:ext cx="5102942" cy="7782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Generation :</a:t>
            </a:r>
            <a:endParaRPr b="0" i="0" sz="4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429368" y="2071316"/>
            <a:ext cx="6266399" cy="46441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570271" y="1574906"/>
            <a:ext cx="72267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Overview: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Rows: 2000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Sensors: RPM, GPS_Speed, Accel_X, Accel_Y, Accel_Z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Timestamps: Randomized between Jan 1–Dec 31, 2024, sorted chronologicallyFault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Injection Process: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15% of all cells randomly injected with spikes/drops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Fault magnitude: ±15–30× standard deviation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Row: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Saved As: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sensor_fault_dataset_v2.csv</a:t>
            </a:r>
            <a:endParaRPr/>
          </a:p>
        </p:txBody>
      </p:sp>
      <p:graphicFrame>
        <p:nvGraphicFramePr>
          <p:cNvPr id="106" name="Google Shape;106;p15"/>
          <p:cNvGraphicFramePr/>
          <p:nvPr/>
        </p:nvGraphicFramePr>
        <p:xfrm>
          <a:off x="698091" y="42302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{96AAD665-4AFD-41D9-9458-077EBE02A735}</a:tableStyleId>
              </a:tblPr>
              <a:tblGrid>
                <a:gridCol w="1296750"/>
                <a:gridCol w="1059300"/>
                <a:gridCol w="1187150"/>
                <a:gridCol w="821875"/>
                <a:gridCol w="858400"/>
                <a:gridCol w="1187150"/>
              </a:tblGrid>
              <a:tr h="26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strike="noStrike"/>
                        <a:t>Timestamp</a:t>
                      </a:r>
                      <a:endParaRPr b="1" i="0" sz="11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strike="noStrike"/>
                        <a:t>RPM</a:t>
                      </a:r>
                      <a:endParaRPr b="1" i="0" sz="11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strike="noStrike"/>
                        <a:t>GPS_Speed</a:t>
                      </a:r>
                      <a:endParaRPr b="1" i="0" sz="11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strike="noStrike"/>
                        <a:t>Accel_X</a:t>
                      </a:r>
                      <a:endParaRPr b="1" i="0" sz="11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strike="noStrike"/>
                        <a:t>Accel_Y</a:t>
                      </a:r>
                      <a:endParaRPr b="1" i="0" sz="11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strike="noStrike"/>
                        <a:t>Accel_Z</a:t>
                      </a:r>
                      <a:endParaRPr b="1" i="0" sz="11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/>
                        <a:t>19-08-24 6:26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/>
                        <a:t>1835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/>
                        <a:t>50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/>
                        <a:t>0.0035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/>
                        <a:t>-0.0455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/>
                        <a:t>9.813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33475" y="1807361"/>
            <a:ext cx="2108944" cy="2190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/>
          <p:nvPr/>
        </p:nvSpPr>
        <p:spPr>
          <a:xfrm flipH="1" rot="3967198">
            <a:off x="6100024" y="863980"/>
            <a:ext cx="2987899" cy="2240924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462117" y="479493"/>
            <a:ext cx="805323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Preprocessing &amp; Feature Engineering</a:t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 flipH="1">
            <a:off x="0" y="5486400"/>
            <a:ext cx="2004647" cy="1371600"/>
          </a:xfrm>
          <a:custGeom>
            <a:rect b="b" l="l" r="r" t="t"/>
            <a:pathLst>
              <a:path extrusionOk="0" h="1371600" w="2672863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ata Preprocessing in Data Science" id="116" name="Google Shape;116;p16"/>
          <p:cNvPicPr preferRelativeResize="0"/>
          <p:nvPr/>
        </p:nvPicPr>
        <p:blipFill rotWithShape="1">
          <a:blip r:embed="rId3">
            <a:alphaModFix/>
          </a:blip>
          <a:srcRect b="9044" l="6473" r="5167" t="8424"/>
          <a:stretch/>
        </p:blipFill>
        <p:spPr>
          <a:xfrm>
            <a:off x="148688" y="2438401"/>
            <a:ext cx="3165988" cy="1966452"/>
          </a:xfrm>
          <a:custGeom>
            <a:rect b="b" l="l" r="r" t="t"/>
            <a:pathLst>
              <a:path extrusionOk="0" h="5643794" w="4777381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3314676" y="1671484"/>
            <a:ext cx="5829324" cy="5186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Preprocessing Goals: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Retain all faulty readings (no filtering).</a:t>
            </a:r>
            <a:endParaRPr/>
          </a:p>
          <a:p>
            <a:pPr indent="-22860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Standardize sensor data for uniform scaling.</a:t>
            </a:r>
            <a:endParaRPr/>
          </a:p>
          <a:p>
            <a:pPr indent="-22860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features to capture dynamic relationships.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 Taken: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Loaded raw data.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Standardized with StandardScaler.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Engineered features:</a:t>
            </a:r>
            <a:endParaRPr/>
          </a:p>
          <a:p>
            <a:pPr indent="-228600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Delta_GPS_Speed = GPS_Speed.diff()</a:t>
            </a:r>
            <a:endParaRPr/>
          </a:p>
          <a:p>
            <a:pPr indent="-228600" lvl="1" marL="7429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Speed_RPM_Ratio = GPS_Speed / Engine_RPM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Saved preprocessed file as vehicle_sensor_data_preprocessed.csv.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Point:</a:t>
            </a:r>
            <a:b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Extreme (faulty) values were preserved to enhance anomaly detection capability.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0" y="-1"/>
            <a:ext cx="8824632" cy="2061837"/>
          </a:xfrm>
          <a:custGeom>
            <a:rect b="b" l="l" r="r" t="t"/>
            <a:pathLst>
              <a:path extrusionOk="0" h="1978172" w="10768629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852775" y="609597"/>
            <a:ext cx="7044316" cy="1330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Comparison &amp; Evaluation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677110" y="2130099"/>
            <a:ext cx="7789780" cy="4659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667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Models Tested:</a:t>
            </a:r>
            <a:endParaRPr/>
          </a:p>
          <a:p>
            <a:pPr indent="82232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5267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PCA (Principal Component Analysis)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Linear reconstruction</a:t>
            </a:r>
            <a:endParaRPr/>
          </a:p>
          <a:p>
            <a:pPr indent="-235267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Isolation Forest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Tree-based anomaly detection</a:t>
            </a:r>
            <a:endParaRPr/>
          </a:p>
          <a:p>
            <a:pPr indent="-235267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Gaussian Mixture Model (GMM)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Probabilistic density estimation</a:t>
            </a:r>
            <a:endParaRPr/>
          </a:p>
          <a:p>
            <a:pPr indent="-6667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Ground Truth: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5267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63 injected anomalies marked as true faults</a:t>
            </a:r>
            <a:endParaRPr/>
          </a:p>
          <a:p>
            <a:pPr indent="-6667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 Results:</a:t>
            </a:r>
            <a:endParaRPr/>
          </a:p>
          <a:p>
            <a:pPr indent="82232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82232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82232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82232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82232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667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Conclusion:</a:t>
            </a:r>
            <a:b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Isolation Forest provided the best anomaly detection due to its ability to model nonlinear correlations and retain extreme values.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 rot="10800000">
            <a:off x="4036218" y="6209414"/>
            <a:ext cx="5107781" cy="648586"/>
          </a:xfrm>
          <a:custGeom>
            <a:rect b="b" l="l" r="r" t="t"/>
            <a:pathLst>
              <a:path extrusionOk="0" h="1027260" w="10753706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3314676" y="1671484"/>
            <a:ext cx="5829324" cy="5186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8" name="Google Shape;128;p17"/>
          <p:cNvGraphicFramePr/>
          <p:nvPr/>
        </p:nvGraphicFramePr>
        <p:xfrm>
          <a:off x="1045507" y="40847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{54D5C369-4458-4E46-A4B9-66C5724EB205}</a:tableStyleId>
              </a:tblPr>
              <a:tblGrid>
                <a:gridCol w="1289900"/>
                <a:gridCol w="1076400"/>
              </a:tblGrid>
              <a:tr h="258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strike="noStrike"/>
                        <a:t>Model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2850" marB="0" marR="22850" marL="228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strike="noStrike"/>
                        <a:t>AUC-ROC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2850" marB="0" marR="22850" marL="228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8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/>
                        <a:t>Isolation Forest</a:t>
                      </a:r>
                      <a:endParaRPr b="0" i="0" sz="12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2850" marB="0" marR="22850" marL="228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/>
                        <a:t>0.9964</a:t>
                      </a:r>
                      <a:endParaRPr b="0" i="0" sz="12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2850" marB="0" marR="22850" marL="228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/>
                        <a:t>GMM</a:t>
                      </a:r>
                      <a:endParaRPr b="0" i="0" sz="12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2850" marB="0" marR="22850" marL="228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/>
                        <a:t>0.9201</a:t>
                      </a:r>
                      <a:endParaRPr b="0" i="0" sz="12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2850" marB="0" marR="22850" marL="228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/>
                        <a:t>PCA</a:t>
                      </a:r>
                      <a:endParaRPr b="0" i="0" sz="12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2850" marB="0" marR="22850" marL="228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/>
                        <a:t>0.4721</a:t>
                      </a:r>
                      <a:endParaRPr b="0" i="0" sz="12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2850" marB="0" marR="22850" marL="228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8" title="WhatsApp Image 2025-10-29 at 11.11.57_a161c5ec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93612"/>
            <a:ext cx="8839201" cy="5270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9" title="WhatsApp Image 2025-10-29 at 11.19.37_eac9eb1e.jpg"/>
          <p:cNvPicPr preferRelativeResize="0"/>
          <p:nvPr/>
        </p:nvPicPr>
        <p:blipFill rotWithShape="1">
          <a:blip r:embed="rId3">
            <a:alphaModFix/>
          </a:blip>
          <a:srcRect b="0" l="308" r="308" t="1302"/>
          <a:stretch/>
        </p:blipFill>
        <p:spPr>
          <a:xfrm>
            <a:off x="152400" y="827875"/>
            <a:ext cx="8839201" cy="520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0" title="WhatsApp Image 2025-10-29 at 11.11.58_5f522252.jpg"/>
          <p:cNvPicPr preferRelativeResize="0"/>
          <p:nvPr/>
        </p:nvPicPr>
        <p:blipFill rotWithShape="1">
          <a:blip r:embed="rId3">
            <a:alphaModFix/>
          </a:blip>
          <a:srcRect b="0" l="79" r="79" t="1671"/>
          <a:stretch/>
        </p:blipFill>
        <p:spPr>
          <a:xfrm>
            <a:off x="152400" y="837675"/>
            <a:ext cx="8839201" cy="5182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1" title="WhatsApp Image 2025-10-29 at 11.12.02_aa92b25a.jpg"/>
          <p:cNvPicPr preferRelativeResize="0"/>
          <p:nvPr/>
        </p:nvPicPr>
        <p:blipFill rotWithShape="1">
          <a:blip r:embed="rId3">
            <a:alphaModFix/>
          </a:blip>
          <a:srcRect b="455" l="0" r="0" t="465"/>
          <a:stretch/>
        </p:blipFill>
        <p:spPr>
          <a:xfrm>
            <a:off x="152400" y="793613"/>
            <a:ext cx="8839201" cy="5270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2" title="WhatsApp Image 2025-10-29 at 11.12.03_7f418212.jpg"/>
          <p:cNvPicPr preferRelativeResize="0"/>
          <p:nvPr/>
        </p:nvPicPr>
        <p:blipFill rotWithShape="1">
          <a:blip r:embed="rId3">
            <a:alphaModFix/>
          </a:blip>
          <a:srcRect b="0" l="465" r="465" t="0"/>
          <a:stretch/>
        </p:blipFill>
        <p:spPr>
          <a:xfrm>
            <a:off x="152400" y="793612"/>
            <a:ext cx="8839201" cy="5270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/>
        </p:nvSpPr>
        <p:spPr>
          <a:xfrm>
            <a:off x="117550" y="2782663"/>
            <a:ext cx="91440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 Explanation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/>
          <p:nvPr/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4" name="Google Shape;164;p24"/>
          <p:cNvGrpSpPr/>
          <p:nvPr/>
        </p:nvGrpSpPr>
        <p:grpSpPr>
          <a:xfrm>
            <a:off x="1891743" y="4813"/>
            <a:ext cx="5360514" cy="6333471"/>
            <a:chOff x="329184" y="-555662"/>
            <a:chExt cx="524256" cy="6333471"/>
          </a:xfrm>
        </p:grpSpPr>
        <p:cxnSp>
          <p:nvCxnSpPr>
            <p:cNvPr id="165" name="Google Shape;165;p24"/>
            <p:cNvCxnSpPr/>
            <p:nvPr/>
          </p:nvCxnSpPr>
          <p:spPr>
            <a:xfrm rot="10800000">
              <a:off x="329184" y="5777809"/>
              <a:ext cx="523824" cy="0"/>
            </a:xfrm>
            <a:prstGeom prst="straightConnector1">
              <a:avLst/>
            </a:prstGeom>
            <a:noFill/>
            <a:ln cap="flat" cmpd="sng" w="1524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6" name="Google Shape;166;p24"/>
            <p:cNvSpPr/>
            <p:nvPr/>
          </p:nvSpPr>
          <p:spPr>
            <a:xfrm>
              <a:off x="329184" y="-555662"/>
              <a:ext cx="524256" cy="608778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7" name="Google Shape;167;p24"/>
          <p:cNvSpPr/>
          <p:nvPr/>
        </p:nvSpPr>
        <p:spPr>
          <a:xfrm>
            <a:off x="447348" y="265180"/>
            <a:ext cx="8249304" cy="575157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am DOFH Final Slide Deck" id="168" name="Google Shape;168;p24"/>
          <p:cNvPicPr preferRelativeResize="0"/>
          <p:nvPr/>
        </p:nvPicPr>
        <p:blipFill rotWithShape="1">
          <a:blip r:embed="rId3">
            <a:alphaModFix/>
          </a:blip>
          <a:srcRect b="2" l="0" r="16778" t="0"/>
          <a:stretch/>
        </p:blipFill>
        <p:spPr>
          <a:xfrm>
            <a:off x="628650" y="469664"/>
            <a:ext cx="7886700" cy="5330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